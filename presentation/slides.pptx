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REAVER. Problem Statement 3 — AI-based crime scene evidence prioritization.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real case. The problem is triage, not collection.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differentiator. A model that outputs a priority number is not reproducible or admissible.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Bob only touches stage 1. Stages 2-4 are deterministic and never call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cigarette butt surfaces as urgent — because it is biological, weather-exposed and touch-DNA, not because a model had a hunch. Expand any row for the arithmetic.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Bob is load-bearing. Remove Bob and there is no natural-language intake; but Bob is architecturally prevented from deciding priority.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Determinism is a tested property, not a claim. Show /health with the hash, and pytest passing.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tagline. Bob does the language, the rules decide the priority, and we can prove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1F2D4D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286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NFSU × IBM  ·  BOB AI HACKATHON  ·  TRACK 1 · PS-03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69748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Triage Console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70332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crime scene evidence prioritization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44348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extracts &amp; classifies.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code scores, flags &amp; ranks.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9893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REAVER   ·   Sarthak Singh (lead) · Dular Bewal · Rishi Bhardwaj · Krisha Jogi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much evidence, no defensible way to triage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0020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6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Hyderabad homicide.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D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 faced thousands of photographs and hundreds of items. A DNA-bearing cigarette butt — the single most identifying piece — was nearly missed on the first sweep, while overloaded labs delayed testing for weeks.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2788920"/>
            <a:ext cx="3478682" cy="1965960"/>
          </a:xfrm>
          <a:prstGeom prst="roundRect">
            <a:avLst>
              <a:gd name="adj" fmla="val 3721"/>
            </a:avLst>
          </a:prstGeom>
          <a:solidFill>
            <a:srgbClr val="F6F7F8"/>
          </a:solidFill>
          <a:ln w="12700">
            <a:solidFill>
              <a:srgbClr val="E2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3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12648" y="3172968"/>
            <a:ext cx="33872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F2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3,000+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4114800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photographs at one scene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56506" y="2788920"/>
            <a:ext cx="3478682" cy="1965960"/>
          </a:xfrm>
          <a:prstGeom prst="roundRect">
            <a:avLst>
              <a:gd name="adj" fmla="val 3721"/>
            </a:avLst>
          </a:prstGeom>
          <a:solidFill>
            <a:srgbClr val="F6F7F8"/>
          </a:solidFill>
          <a:ln w="12700">
            <a:solidFill>
              <a:srgbClr val="E2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3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02226" y="3172968"/>
            <a:ext cx="33872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F2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4539386" y="4114800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items recovered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46085" y="2788920"/>
            <a:ext cx="3478682" cy="1965960"/>
          </a:xfrm>
          <a:prstGeom prst="roundRect">
            <a:avLst>
              <a:gd name="adj" fmla="val 3721"/>
            </a:avLst>
          </a:prstGeom>
          <a:solidFill>
            <a:srgbClr val="F6F7F8"/>
          </a:solidFill>
          <a:ln w="12700">
            <a:solidFill>
              <a:srgbClr val="E2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3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191805" y="3172968"/>
            <a:ext cx="33872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F2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</a:t>
            </a:r>
            <a:endParaRPr lang="en-US" sz="5200" dirty="0"/>
          </a:p>
        </p:txBody>
      </p:sp>
      <p:sp>
        <p:nvSpPr>
          <p:cNvPr id="13" name="Text 11"/>
          <p:cNvSpPr txBox="1"/>
          <p:nvPr/>
        </p:nvSpPr>
        <p:spPr>
          <a:xfrm>
            <a:off x="8328965" y="4114800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FSL testing backlog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07492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D4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is not evidence — it is deciding what the lab examines first, in a way that holds up in court.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never decides the priority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3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21305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Free-text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 list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834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input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1874520"/>
            <a:ext cx="237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65576" y="187452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3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57016" y="21305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Bob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Granite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557016" y="2834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classify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053328" y="1874520"/>
            <a:ext cx="237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64224" y="187452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1F2D4D"/>
          </a:solidFill>
          <a:ln w="12700">
            <a:solidFill>
              <a:srgbClr val="E2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3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55664" y="21305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2834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· flag · rank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51976" y="1874520"/>
            <a:ext cx="237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262872" y="187452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3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354312" y="21305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FSL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354312" y="2834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examine-first list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977640"/>
            <a:ext cx="11057839" cy="1554480"/>
          </a:xfrm>
          <a:prstGeom prst="roundRect">
            <a:avLst>
              <a:gd name="adj" fmla="val 4706"/>
            </a:avLst>
          </a:prstGeom>
          <a:solidFill>
            <a:srgbClr val="EEF1F6"/>
          </a:solidFill>
          <a:ln w="12700">
            <a:solidFill>
              <a:srgbClr val="E2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3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32688" y="4224528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makes it court-admissible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4590288"/>
            <a:ext cx="103263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3D4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Bob does only the language step — it classifies items into a fixed taxonomy. </a:t>
            </a:r>
            <a:pPr indent="0" marL="0">
              <a:lnSpc>
                <a:spcPct val="110000"/>
              </a:lnSpc>
              <a:buNone/>
            </a:pPr>
            <a:r>
              <a:rPr lang="en-US" sz="1700" b="1" i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never assigns a score, never ranks, never decides urgency. </a:t>
            </a:r>
            <a:pPr indent="0" marL="0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3D4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priority is computed by pure Python from a versioned, hashed ruleset — so the same input always yields the same schedule.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stages, one trust boundary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7347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103120"/>
            <a:ext cx="566928" cy="566928"/>
          </a:xfrm>
          <a:prstGeom prst="ellipse">
            <a:avLst/>
          </a:prstGeom>
          <a:solidFill>
            <a:srgbClr val="1F2D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18488" y="2167128"/>
            <a:ext cx="404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807208"/>
            <a:ext cx="464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D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/ Granite reads the free text and returns structured, classified items. Temperature 0, strict validation, hallucinations rejected and routed to manual review — never guessed.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51296" y="1783080"/>
            <a:ext cx="537347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71336" y="2103120"/>
            <a:ext cx="566928" cy="566928"/>
          </a:xfrm>
          <a:prstGeom prst="ellipse">
            <a:avLst/>
          </a:prstGeom>
          <a:solidFill>
            <a:srgbClr val="1F2D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71336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302856" y="2167128"/>
            <a:ext cx="404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17056" y="2807208"/>
            <a:ext cx="464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D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Python: base weight × crime-type multiplier + degradation risk + context-flag bonus, clamped 0–100 with Decimal / round-half-up. No model, no randomness.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041648"/>
            <a:ext cx="537347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4361688"/>
            <a:ext cx="566928" cy="566928"/>
          </a:xfrm>
          <a:prstGeom prst="ellipse">
            <a:avLst/>
          </a:prstGeom>
          <a:solidFill>
            <a:srgbClr val="1F2D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6968" y="4361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618488" y="4425696"/>
            <a:ext cx="404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 urgency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5065776"/>
            <a:ext cx="464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D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boolean: score ≥ 30 OR a force-urgent flag (electronic, weather-exposed, biological). A low-scoring but perishable item is never buried.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51296" y="4041648"/>
            <a:ext cx="537347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71336" y="4361688"/>
            <a:ext cx="566928" cy="566928"/>
          </a:xfrm>
          <a:prstGeom prst="ellipse">
            <a:avLst/>
          </a:prstGeom>
          <a:solidFill>
            <a:srgbClr val="1F2D4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71336" y="4361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302856" y="4425696"/>
            <a:ext cx="404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&amp; schedule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617056" y="5065776"/>
            <a:ext cx="464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D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sort — urgency, then score, then item id — into a ranked FSL examination schedule, each item stamped with the ruleset's SHA-256 hash.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ranked, explainable examination schedule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Homicide scene · reference case (8 items, 5 shown) · generated deterministically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11057839" cy="4242816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3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86968" y="2075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2075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&amp; CATEGORY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47888" y="2075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253167" y="20756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4414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89888" y="242316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Bloodstained kitchen knife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/ DNA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47888" y="256946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3E8E8"/>
          </a:solidFill>
          <a:ln w="9525">
            <a:solidFill>
              <a:srgbClr val="D8B4B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47888" y="25694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0024567" y="244144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41248" y="3099816"/>
            <a:ext cx="10509199" cy="0"/>
          </a:xfrm>
          <a:prstGeom prst="line">
            <a:avLst/>
          </a:prstGeom>
          <a:noFill/>
          <a:ln w="9525">
            <a:solidFill>
              <a:srgbClr val="E2E5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31912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317296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smartphone, powered on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/ Electronic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47888" y="331927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3E8E8"/>
          </a:solidFill>
          <a:ln w="9525">
            <a:solidFill>
              <a:srgbClr val="D8B4B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47888" y="33192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0024567" y="319125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19.6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41248" y="3849624"/>
            <a:ext cx="10509199" cy="0"/>
          </a:xfrm>
          <a:prstGeom prst="line">
            <a:avLst/>
          </a:prstGeom>
          <a:noFill/>
          <a:ln w="9525">
            <a:solidFill>
              <a:srgbClr val="E2E5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" y="39410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89888" y="3922776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8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strand of hair on the victim’s collar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/ DNA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47888" y="406908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3E8E8"/>
          </a:solidFill>
          <a:ln w="9525">
            <a:solidFill>
              <a:srgbClr val="D8B4B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47888" y="40690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0024567" y="394106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41248" y="4599432"/>
            <a:ext cx="10509199" cy="0"/>
          </a:xfrm>
          <a:prstGeom prst="line">
            <a:avLst/>
          </a:prstGeom>
          <a:noFill/>
          <a:ln w="9525">
            <a:solidFill>
              <a:srgbClr val="E2E5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" y="46908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389888" y="4672584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Cigarette butt near the gate   ← nearly missed in the real case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/ DNA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47888" y="481888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3E8E8"/>
          </a:solidFill>
          <a:ln w="9525">
            <a:solidFill>
              <a:srgbClr val="D8B4B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47888" y="481888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0024567" y="469087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41248" y="5349240"/>
            <a:ext cx="10509199" cy="0"/>
          </a:xfrm>
          <a:prstGeom prst="line">
            <a:avLst/>
          </a:prstGeom>
          <a:noFill/>
          <a:ln w="9525">
            <a:solidFill>
              <a:srgbClr val="E2E5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1248" y="5440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389888" y="542239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liquor bottle, fingerprints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/ Impression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247888" y="556869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6F7F8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47888" y="556869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0024567" y="54406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INTEGRATION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Load-bearing, not name-dropped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08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investigator talks to Bob. Bob calls two MCP tools — and the boundary between them enforces our design rule.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53003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3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32688" y="2697480"/>
            <a:ext cx="456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extract_evidence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172968"/>
            <a:ext cx="456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A57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 ·  watsonx Granite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611880"/>
            <a:ext cx="456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6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free text.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D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structured, classified items in a fixed taxonomy — the part LLMs are good at.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4448" y="2331720"/>
            <a:ext cx="5300320" cy="2514600"/>
          </a:xfrm>
          <a:prstGeom prst="roundRect">
            <a:avLst>
              <a:gd name="adj" fmla="val 2909"/>
            </a:avLst>
          </a:prstGeom>
          <a:solidFill>
            <a:srgbClr val="1F2D4D"/>
          </a:solidFill>
          <a:ln w="12700">
            <a:solidFill>
              <a:srgbClr val="E2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3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90208" y="2697480"/>
            <a:ext cx="456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score_evidence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690208" y="3172968"/>
            <a:ext cx="456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DB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 ·  PURE PYTHON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90208" y="3611880"/>
            <a:ext cx="456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and ranks.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must call this to get a priority — it cannot compute the score itself. Same input, same output, every time.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1663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D4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 boundary is the guarantee: the language model structures the data; the deterministic tool decides the priority.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CAN BE TRUSTED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and auditable by construction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558720" cy="2468880"/>
          </a:xfrm>
          <a:prstGeom prst="roundRect">
            <a:avLst>
              <a:gd name="adj" fmla="val 2963"/>
            </a:avLst>
          </a:prstGeom>
          <a:solidFill>
            <a:srgbClr val="F6F7F8"/>
          </a:solidFill>
          <a:ln w="12700">
            <a:solidFill>
              <a:srgbClr val="E2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3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76656" y="224028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971800"/>
            <a:ext cx="233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green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3337560"/>
            <a:ext cx="2156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Zero-tolerance exact-match tests pin the scoring formula.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99968" y="1828800"/>
            <a:ext cx="2558720" cy="2468880"/>
          </a:xfrm>
          <a:prstGeom prst="roundRect">
            <a:avLst>
              <a:gd name="adj" fmla="val 2963"/>
            </a:avLst>
          </a:prstGeom>
          <a:solidFill>
            <a:srgbClr val="F6F7F8"/>
          </a:solidFill>
          <a:ln w="12700">
            <a:solidFill>
              <a:srgbClr val="E2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3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09696" y="224028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1000×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509696" y="2971800"/>
            <a:ext cx="233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01136" y="3337560"/>
            <a:ext cx="2156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scorer runs a thousand times on one input — byte-identical every run.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3008" y="1828800"/>
            <a:ext cx="2558720" cy="2468880"/>
          </a:xfrm>
          <a:prstGeom prst="roundRect">
            <a:avLst>
              <a:gd name="adj" fmla="val 2963"/>
            </a:avLst>
          </a:prstGeom>
          <a:solidFill>
            <a:srgbClr val="F6F7F8"/>
          </a:solidFill>
          <a:ln w="12700">
            <a:solidFill>
              <a:srgbClr val="E2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3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42736" y="224028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342736" y="2971800"/>
            <a:ext cx="233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result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34176" y="3337560"/>
            <a:ext cx="2156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schedule is stamped with the hash of the exact ruleset used.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66047" y="1828800"/>
            <a:ext cx="2558720" cy="2468880"/>
          </a:xfrm>
          <a:prstGeom prst="roundRect">
            <a:avLst>
              <a:gd name="adj" fmla="val 2963"/>
            </a:avLst>
          </a:prstGeom>
          <a:solidFill>
            <a:srgbClr val="F6F7F8"/>
          </a:solidFill>
          <a:ln w="12700">
            <a:solidFill>
              <a:srgbClr val="E2E5E8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3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75775" y="224028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Replay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175775" y="2971800"/>
            <a:ext cx="233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past run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267215" y="3337560"/>
            <a:ext cx="2156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SQLite audit log reproduces old results without calling the model.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47091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 · FastAPI · Pydantic v2 (strict) · watsonx.ai Granite · MCP · SQLite · pytest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WHAT'S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14400"/>
            <a:ext cx="1105783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 overwhelming pile to a defensible worklist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651760"/>
            <a:ext cx="1105783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officer at 2 a.m.: a ranked, explainable list of what to seize and rush first.</a:t>
            </a:r>
            <a:endParaRPr lang="en-US" sz="15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lab: the highest-value, most-perishable evidence tested before the backlog buries it.</a:t>
            </a:r>
            <a:endParaRPr lang="en-US" sz="15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calibrate weights against real FSL outcomes; e-FSL submission; multilingual intake.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0916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Bob does the language.  The rules decide the priority.  And we can prove it.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1264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REAVER   ·   Evidence Triage Console   ·   NFSU × IBM Bob Hackathon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2026-09-27T19:08:13Z</dcterms:created>
  <dcterms:modified xsi:type="dcterms:W3CDTF">2026-09-27T19:08:13Z</dcterms:modified>
</cp:coreProperties>
</file>